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0B4F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3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 Paid</c:v>
                  </c:pt>
                  <c:pt idx="1">
                    <c:v>Bing Paid</c:v>
                  </c:pt>
                  <c:pt idx="2">
                    <c:v>Organic</c:v>
                  </c:pt>
                  <c:pt idx="3">
                    <c:v>Direct</c:v>
                  </c:pt>
                  <c:pt idx="4">
                    <c:v>SocialBook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1.28</c:v>
                </c:pt>
                <c:pt idx="1">
                  <c:v>0.27</c:v>
                </c:pt>
                <c:pt idx="2">
                  <c:v>0.2</c:v>
                </c:pt>
                <c:pt idx="3">
                  <c:v>0.17</c:v>
                </c:pt>
                <c:pt idx="4">
                  <c:v>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3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ED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Device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F4A"/>
              </a:solidFill>
              <a:effectLst/>
            </c:spPr>
          </c:dPt>
          <c:dPt>
            <c:idx val="1"/>
            <c:bubble3D val="0"/>
            <c:spPr>
              <a:solidFill>
                <a:srgbClr val="E457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86.05</c:v>
                </c:pt>
                <c:pt idx="1">
                  <c:v>13.95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A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0B4F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The Birthday Sugar Panda</c:v>
                  </c:pt>
                  <c:pt idx="1">
                    <c:v>The Hudson River Mini Bear</c:v>
                  </c:pt>
                  <c:pt idx="2">
                    <c:v>The Forever Love Bear</c:v>
                  </c:pt>
                  <c:pt idx="3">
                    <c:v>The Original Mr. Fuzzy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68.49</c:v>
                </c:pt>
                <c:pt idx="1">
                  <c:v>68.36</c:v>
                </c:pt>
                <c:pt idx="2">
                  <c:v>62.51</c:v>
                </c:pt>
                <c:pt idx="3">
                  <c:v>61.01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C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DE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 FUZZY FACTORY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Growth Story — Business Analytics Hackathon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Avenger Team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4988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Hesham Yahya — Data Analyst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 · Excel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Tell the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$2M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640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290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 across the full customer journey, from a single product in 2012 to a four-product portfolio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1945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6.8%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663440" y="3246120"/>
            <a:ext cx="640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4290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session-to-order conversion rate — the efficiency baseline every recommendation in this deck is designed to improve.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1945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37.3%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8503920" y="3246120"/>
            <a:ext cx="640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4290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 already proven in a live A/B test on the billing page — evidence that targeted fixes convert directly into revenue.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walks from raw data through cleaning, growth and efficiency, the customer funnel, and two live experiments — to a set of evidence-backed recommendations.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QUALITY &amp;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Story: Cleaning the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MySQL export was audited before any analysis began. Four issue categories were found and corrected in SQL.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225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channel labels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1518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utm_source / utm_campaign values recorded in mixed case ('Gsearch', 'GSEARCH', 'gsearch') were standardized to a single consistent value per channel.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37744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3225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product references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61518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order line items referenced a product_id (99) that does not exist in the products master table — excluded from product-level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6285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order economics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5546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orders carried zero or negative revenue, and 3 orders had a cost of goods higher than the selling price — both flagged as impossible and excluded.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2976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61772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6285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session records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85546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session records shared an identical user_id and timestamp — a classic sign of duplicate logging — and were de-duplicated before aggregation.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Today,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39112"/>
            <a:ext cx="324612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473K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5069"/>
            <a:ext cx="324612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039112"/>
            <a:ext cx="324612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26280" y="3065069"/>
            <a:ext cx="324612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039112"/>
            <a:ext cx="324612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$59.99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66760" y="3065069"/>
            <a:ext cx="324612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279392"/>
            <a:ext cx="324612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5800" y="5305349"/>
            <a:ext cx="324612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4279392"/>
            <a:ext cx="324612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5305349"/>
            <a:ext cx="324612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4114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4279392"/>
            <a:ext cx="324612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66760" y="5305349"/>
            <a:ext cx="3246120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— 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Channel Paradox: Volume vs.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Channel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60020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Paid: The Volume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2084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$1.28M in revenue — by far the largest channel — but its Average Order Value ($59.82) is only mid-pack.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3154680"/>
            <a:ext cx="4663440" cy="0"/>
          </a:xfrm>
          <a:prstGeom prst="line">
            <a:avLst/>
          </a:prstGeom>
          <a:noFill/>
          <a:ln w="12700">
            <a:solidFill>
              <a:srgbClr val="E3DE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SocialBook: The Value Signal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20840" y="3703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traffic volume, but the highest Average Order Value of any channel at $64.90 — a smaller pool of high-intent, premium buyers.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4663440"/>
            <a:ext cx="4663440" cy="0"/>
          </a:xfrm>
          <a:prstGeom prst="line">
            <a:avLst/>
          </a:prstGeom>
          <a:noFill/>
          <a:ln w="12700">
            <a:solidFill>
              <a:srgbClr val="E3DE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jobs: one channel scales reach, the other signals what a premium buyer looks like — both worth investing in for different reasons.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—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Dominance &amp; the Office-Hours Pattern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737360"/>
            <a:ext cx="5989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965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86.05% of orders come from desktop.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89320" y="25146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traffic (Mon–Fri) is remarkably even — every weekday clusters around the same peak volume at late-morning / early-afternoon hours, with no single day standing out.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89320" y="34290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traffic (Sat–Sun) drops to roughly a third of weekday levels.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4023360"/>
            <a:ext cx="5394960" cy="0"/>
          </a:xfrm>
          <a:prstGeom prst="line">
            <a:avLst/>
          </a:prstGeom>
          <a:noFill/>
          <a:ln w="12700">
            <a:solidFill>
              <a:srgbClr val="E3DE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4206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likely read: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89320" y="45262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looks less like planned shopping and more like employees taking a quick mental break during the workday — browsing from their desktop as a short escape from work — which fits why the pattern repeats evenly across every weekday.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— 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Purchase Funnel: Where We Lose Customers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420624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169164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76856"/>
            <a:ext cx="5080699" cy="420624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76856"/>
            <a:ext cx="48063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0779" y="227685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55.24%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4409785" cy="420624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62072"/>
            <a:ext cx="413546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9865" y="28620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2894478" cy="42062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47288"/>
            <a:ext cx="26201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4558" y="344728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20.08%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2494044" cy="420624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32504"/>
            <a:ext cx="22197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34124" y="403250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13.64%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330513" cy="420624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617720"/>
            <a:ext cx="20561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0593" y="46177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11.01%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2070604" cy="420624"/>
          </a:xfrm>
          <a:prstGeom prst="rect">
            <a:avLst/>
          </a:prstGeom>
          <a:solidFill>
            <a:srgbClr val="0F6B6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202936"/>
            <a:ext cx="17962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10684" y="520293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46920" y="1691640"/>
            <a:ext cx="2011680" cy="4114800"/>
          </a:xfrm>
          <a:prstGeom prst="roundRect">
            <a:avLst>
              <a:gd name="adj" fmla="val 4545"/>
            </a:avLst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LEAK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54.8%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829800" y="29718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drop from Product Detail to Cart — more than double any other step.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29800" y="4434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highest-value step to fix first.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by Product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337560" cy="42062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products carry healthy margins (61–68%).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95360" y="2926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Birthday Sugar Panda leads the portfolio on margin — the next slide shows why that's not the whole story.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— PRODUCT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Birthday Sugar Panda Dilemma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68.49%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profit margin in the entire product portfolio.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REFUND 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6.04%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4.32% company-wide average refund rate.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0B4F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product that protects margin the most is also costing the business the most in returns — signalling a possible quality or expectation-setting gap worth investigating before scaling it further.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—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Test: Landing Page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 (control)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/lander-1 (variant)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4904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/lander-1 landing page outperformed the generic /home page for gsearch nonbrand traffic during the test window (June 19 – July 28, 2012). A modest but real lift — worth keeping in production.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680960" y="182880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E4572E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148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UPLIFT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251460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+6.6%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955280" y="397764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a controlled test — not a projection.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—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Test: Billing Page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/billing (control)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/billing-2 (variant)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4904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redesigned /billing-2 page converted dramatically better during its test window (September 10 – November 10, 2012). This is the single strongest, most defensible win in the entire analysis — a clear candidate for full rollout.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680960" y="182880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E4572E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148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UPLIFT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251460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+37.3%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955280" y="397764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a controlled test — not a projection.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Cross-Sell Pairings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01752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2514600"/>
                <a:gridCol w="2514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Sold Together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Profit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Original Mr. Fuzzy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Hudson River Mini Bear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$64,083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Original Mr. Fuzzy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Birthday Sugar Panda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Original Mr. Fuzzy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Forever Love Bear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Forever Love Bear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Hudson River Mini Bear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$13,756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Birthday Sugar Panda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Hudson River Mini Bear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B4F4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pairing — Mr. Fuzzy + Hudson River Mini Bear — is sold together 3,126 times and generates $64K in extra profit. It's the natural pairing to feature most prominently at checkout.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 Plan — Part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7393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Add-to-Cart Leak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6654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product detail page — pricing clarity, shipping-cost visibility, and the Add-to-Cart call-to-action. This is the single largest funnel opportunity identified.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2841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Winning Billing Page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2102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proven +37.3% billing page design to all remaining traffic and monitor conversion post-rollout to confirm the lift holds at scale.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0F6B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82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Audit — Birthday Sugar Panda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manufacturing quality and product description accuracy to bring the 6.04% refund rate down toward the product-line average.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 Plan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7393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Experience Optimization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6654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traffic drops to roughly a third of weekday levels. Audit the mobile checkout flow for friction — this is a hypothesis worth validating with mobile-specific weekend conversion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2841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Server Capacity During Peak Hours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2102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infrastructure to comfortably handle the identified weekday peak windows, with monitoring and auto-scaling so a traffic spike never becomes lost sales.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8289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Retention Marketing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17550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seasonal email/SMS campaigns and feature data-backed cross-sell pairs — starting with the top pairing, Mr. Fuzzy + Hudson River Mini Bear.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Will Win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acquisition engine, a validated conversion win already banked, and a clearly quantified next leak to fix — Maven Fuzzy Factory has both the trajectory and the evidence to keep growing efficiently.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Avenger Team · Prepared by Hesham Yahya — Data 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2026-08-30T11:27:48Z</dcterms:created>
  <dcterms:modified xsi:type="dcterms:W3CDTF">2026-08-30T11:27:48Z</dcterms:modified>
</cp:coreProperties>
</file>